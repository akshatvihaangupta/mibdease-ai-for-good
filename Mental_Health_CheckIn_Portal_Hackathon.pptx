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4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56848" cy="0"/>
          </a:xfrm>
          <a:prstGeom prst="line">
            <a:avLst/>
          </a:prstGeom>
          <a:noFill/>
          <a:ln w="10160">
            <a:solidFill>
              <a:srgbClr val="D9E6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MindGuardians  •  Prayas Tech Hackathon  •  AI for Good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64240" y="6528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2312A"/>
          </a:solidFill>
          <a:ln w="12700">
            <a:solidFill>
              <a:srgbClr val="1231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 rot="900000">
            <a:off x="7982257" y="-104714"/>
            <a:ext cx="4323118" cy="4438109"/>
          </a:xfrm>
          <a:prstGeom prst="arc">
            <a:avLst/>
          </a:prstGeom>
          <a:solidFill>
            <a:srgbClr val="12312A">
              <a:alpha val="0"/>
            </a:srgbClr>
          </a:solidFill>
          <a:ln w="27940">
            <a:solidFill>
              <a:srgbClr val="2D685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 rot="12600000">
            <a:off x="8503920" y="2971800"/>
            <a:ext cx="4389120" cy="4389120"/>
          </a:xfrm>
          <a:prstGeom prst="arc">
            <a:avLst/>
          </a:prstGeom>
          <a:solidFill>
            <a:srgbClr val="12312A">
              <a:alpha val="0"/>
            </a:srgbClr>
          </a:solidFill>
          <a:ln w="17780">
            <a:solidFill>
              <a:srgbClr val="4AA38E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02920"/>
            <a:ext cx="2425959" cy="576072"/>
          </a:xfrm>
          <a:prstGeom prst="roundRect">
            <a:avLst>
              <a:gd name="adj" fmla="val 26667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14605" y="530352"/>
            <a:ext cx="32653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PRAYAS TECH HACKATHON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 • ROUND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6675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 Health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Check-In Portal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9EFEA"/>
                </a:solidFill>
              </a:rPr>
              <a:t>Early detection of student wellbeing concerns using explainable, rule-based AI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5212080" cy="1115568"/>
          </a:xfrm>
          <a:prstGeom prst="roundRect">
            <a:avLst>
              <a:gd name="adj" fmla="val 655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F2EC"/>
                </a:solidFill>
              </a:rPr>
              <a:t>MINDGUARDIANS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2E6E1"/>
                </a:solidFill>
              </a:rPr>
              <a:t>LPU • B.Tech CSE • 1st Year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3B341"/>
                </a:solidFill>
              </a:rPr>
              <a:t>AI FOR GOOD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7C0"/>
                </a:solidFill>
              </a:rPr>
              <a:t>A</a:t>
            </a:r>
            <a:r>
              <a:rPr lang="en-US" sz="1100" dirty="0">
                <a:solidFill>
                  <a:srgbClr val="AAC7C0"/>
                </a:solidFill>
              </a:rPr>
              <a:t> </a:t>
            </a:r>
            <a:r>
              <a:rPr lang="en-US" sz="1200" dirty="0">
                <a:solidFill>
                  <a:srgbClr val="AAC7C0"/>
                </a:solidFill>
              </a:rPr>
              <a:t>practical prototype — not a medical diagnosis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2562" y="845820"/>
            <a:ext cx="210125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F2EC"/>
                </a:solidFill>
              </a:rPr>
              <a:t>TEAM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NEXUS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82128" y="1463040"/>
            <a:ext cx="384048" cy="384048"/>
          </a:xfrm>
          <a:prstGeom prst="ellipse">
            <a:avLst/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1481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Akshat Gupta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82128" y="2267712"/>
            <a:ext cx="384048" cy="384048"/>
          </a:xfrm>
          <a:prstGeom prst="ellipse">
            <a:avLst/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9419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Siddharth Gupta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82128" y="3072384"/>
            <a:ext cx="384048" cy="384048"/>
          </a:xfrm>
          <a:prstGeom prst="ellipse">
            <a:avLst/>
          </a:prstGeom>
          <a:solidFill>
            <a:srgbClr val="2F9E89"/>
          </a:solidFill>
          <a:ln w="12700">
            <a:solidFill>
              <a:srgbClr val="2F9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21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94192" y="3090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Chetna Sharma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82128" y="3877056"/>
            <a:ext cx="384048" cy="384048"/>
          </a:xfrm>
          <a:prstGeom prst="ellipse">
            <a:avLst/>
          </a:prstGeom>
          <a:solidFill>
            <a:srgbClr val="2F9E89"/>
          </a:solidFill>
          <a:ln w="12700">
            <a:solidFill>
              <a:srgbClr val="2F9E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4192" y="38953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Roohani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9386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4632" y="726913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The missing layer is not awareness — it is early, low-friction detection</a:t>
            </a:r>
            <a:r>
              <a:rPr lang="en-US" sz="1050" dirty="0">
                <a:solidFill>
                  <a:srgbClr val="5F706B"/>
                </a:solidFill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98448"/>
            <a:ext cx="69037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5448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DDF2EC"/>
          </a:solidFill>
          <a:ln w="12700">
            <a:solidFill>
              <a:srgbClr val="DD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477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6E"/>
                </a:solidFill>
              </a:rPr>
              <a:t>THE SILENT CRISIS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19659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2312A"/>
                </a:solidFill>
              </a:rPr>
              <a:t>Students often wait until distress becomes visible.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82244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76148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Stigma can make students hesitate to ask for help.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3360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29184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Academic pressure, sleep disruption and isolation can overlap.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386638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3822192"/>
            <a:ext cx="7231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Existing support is often reactive; the gap is a simple check-in that can flag concern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 earlier.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45079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454456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Institutions need structured signals they can review with counselors — without pretending the system can diagnose.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26680" y="1298448"/>
            <a:ext cx="3913632" cy="4343400"/>
          </a:xfrm>
          <a:prstGeom prst="roundRect">
            <a:avLst>
              <a:gd name="adj" fmla="val 1869"/>
            </a:avLst>
          </a:prstGeom>
          <a:solidFill>
            <a:srgbClr val="EDF8F5"/>
          </a:solidFill>
          <a:ln w="12700">
            <a:solidFill>
              <a:srgbClr val="C7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12A"/>
                </a:solidFill>
              </a:rPr>
              <a:t>Evidence snapshot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6E"/>
                </a:solidFill>
              </a:rPr>
              <a:t>7.3%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62288" y="21396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4440"/>
                </a:solidFill>
              </a:rPr>
              <a:t>Mental disorders among ages 13–17 in the National Mental Health Survey (2015–16).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1363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6E"/>
                </a:solidFill>
              </a:rPr>
              <a:t>15%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62288" y="3127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4440"/>
                </a:solidFill>
              </a:rPr>
              <a:t>Indian adults needing active intervention for one or more mental-health issues in the same survey.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1239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B341"/>
                </a:solidFill>
              </a:rPr>
              <a:t>$1.03T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62288" y="41148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4440"/>
                </a:solidFill>
              </a:rPr>
              <a:t>Estimated economic loss in India from mental-health conditions, 2012–2030</a:t>
            </a:r>
            <a:r>
              <a:rPr lang="en-US" sz="950" dirty="0">
                <a:solidFill>
                  <a:srgbClr val="2F4440"/>
                </a:solidFill>
              </a:rPr>
              <a:t>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8096" y="5806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706B"/>
                </a:solidFill>
              </a:rPr>
              <a:t>Who is affected?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65960" y="5769864"/>
            <a:ext cx="2048256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9112" y="582015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440"/>
                </a:solidFill>
              </a:rPr>
              <a:t>School students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0248" y="5769864"/>
            <a:ext cx="2048256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343400" y="582015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440"/>
                </a:solidFill>
              </a:rPr>
              <a:t>College students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74536" y="5769864"/>
            <a:ext cx="2048256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582015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440"/>
                </a:solidFill>
              </a:rPr>
              <a:t>Exam aspirants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78824" y="5769864"/>
            <a:ext cx="2048256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51976" y="582015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440"/>
                </a:solidFill>
              </a:rPr>
              <a:t>Research scholars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5290" y="6292005"/>
            <a:ext cx="106489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71807B"/>
                </a:solidFill>
              </a:rPr>
              <a:t>Sources: WHO India (National Mental Health Survey summary; mental-health economic burden). Figures shown are population-level context, not a clinical measure for this prototype</a:t>
            </a:r>
            <a:r>
              <a:rPr lang="en-US" sz="650" i="1" dirty="0">
                <a:solidFill>
                  <a:srgbClr val="71807B"/>
                </a:solidFill>
              </a:rPr>
              <a:t>.</a:t>
            </a:r>
            <a:endParaRPr lang="en-US" sz="6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7772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4632" y="72009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The goal is to bridge students to existing care — earlier, more consistently, and with less friction.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3794760" cy="44348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2A"/>
                </a:solidFill>
              </a:rPr>
              <a:t>Impact across four dimensions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" y="2139696"/>
            <a:ext cx="347472" cy="347472"/>
          </a:xfrm>
          <a:prstGeom prst="ellipse">
            <a:avLst/>
          </a:prstGeom>
          <a:solidFill>
            <a:srgbClr val="6D9C91"/>
          </a:solidFill>
          <a:ln w="12700">
            <a:solidFill>
              <a:srgbClr val="6D9C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12A"/>
                </a:solidFill>
              </a:rPr>
              <a:t>Academic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21408" y="20756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06B"/>
                </a:solidFill>
              </a:rPr>
              <a:t>Attendance, grades, focus and retention can suffer.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2980944"/>
            <a:ext cx="347472" cy="347472"/>
          </a:xfrm>
          <a:prstGeom prst="ellipse">
            <a:avLst/>
          </a:prstGeom>
          <a:solidFill>
            <a:srgbClr val="2F7D71"/>
          </a:solidFill>
          <a:ln w="12700">
            <a:solidFill>
              <a:srgbClr val="2F7D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1872" y="2953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12A"/>
                </a:solidFill>
              </a:rPr>
              <a:t>Social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2916936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06B"/>
                </a:solidFill>
              </a:rPr>
              <a:t>Isolation can affect friendships, family and campus life.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" y="3822192"/>
            <a:ext cx="347472" cy="347472"/>
          </a:xfrm>
          <a:prstGeom prst="ellipse">
            <a:avLst/>
          </a:prstGeom>
          <a:solidFill>
            <a:srgbClr val="C7A23A"/>
          </a:solidFill>
          <a:ln w="12700">
            <a:solidFill>
              <a:srgbClr val="C7A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12A"/>
                </a:solidFill>
              </a:rPr>
              <a:t>Economic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21408" y="3758184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06B"/>
                </a:solidFill>
              </a:rPr>
              <a:t>Untreated mental-health conditions create a wider cost burden.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" y="4663440"/>
            <a:ext cx="347472" cy="347472"/>
          </a:xfrm>
          <a:prstGeom prst="ellipse">
            <a:avLst/>
          </a:prstGeom>
          <a:solidFill>
            <a:srgbClr val="C06060"/>
          </a:solidFill>
          <a:ln w="12700">
            <a:solidFill>
              <a:srgbClr val="C06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4636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12A"/>
                </a:solidFill>
              </a:rPr>
              <a:t>Personal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21408" y="45994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706B"/>
                </a:solidFill>
              </a:rPr>
              <a:t>Students need a safe route to support before problems escalate.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132588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EDF8F5"/>
          </a:solidFill>
          <a:ln w="12700">
            <a:solidFill>
              <a:srgbClr val="C7E2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2A"/>
                </a:solidFill>
              </a:rPr>
              <a:t>Current system vs. our bridge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846320" y="21762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4440"/>
                </a:solidFill>
              </a:rPr>
              <a:t>Reactive support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08192" y="2167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E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76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Proactive check-in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292608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4440"/>
                </a:solidFill>
              </a:rPr>
              <a:t>Self-report only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08192" y="29169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E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Low-friction structured signals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367588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4440"/>
                </a:solidFill>
              </a:rPr>
              <a:t>Manual escalation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08192" y="36667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E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Rule-triggered alert 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42569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4440"/>
                </a:solidFill>
              </a:rPr>
              <a:t>Unstructured context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08192" y="4416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6E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44256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7A6E"/>
                </a:solidFill>
              </a:rPr>
              <a:t>Reason + timestamp + factors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10728" y="1325880"/>
            <a:ext cx="3529584" cy="44348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2A"/>
                </a:solidFill>
              </a:rPr>
              <a:t>Existing support we complement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366760" y="215188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7A6E"/>
                </a:solidFill>
              </a:rPr>
              <a:t>•</a:t>
            </a:r>
            <a:endParaRPr lang="en-US" sz="1180" dirty="0"/>
          </a:p>
        </p:txBody>
      </p:sp>
      <p:sp>
        <p:nvSpPr>
          <p:cNvPr id="39" name="Text 37"/>
          <p:cNvSpPr/>
          <p:nvPr/>
        </p:nvSpPr>
        <p:spPr>
          <a:xfrm>
            <a:off x="854964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Mental Healthcare Act, 2017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66760" y="251764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7A6E"/>
                </a:solidFill>
              </a:rPr>
              <a:t>•</a:t>
            </a:r>
            <a:endParaRPr lang="en-US" sz="1180" dirty="0"/>
          </a:p>
        </p:txBody>
      </p:sp>
      <p:sp>
        <p:nvSpPr>
          <p:cNvPr id="41" name="Text 39"/>
          <p:cNvSpPr/>
          <p:nvPr/>
        </p:nvSpPr>
        <p:spPr>
          <a:xfrm>
            <a:off x="8549640" y="25420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National Mental Health Programme (NMHP)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57616" y="305866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7A6E"/>
                </a:solidFill>
              </a:rPr>
              <a:t>•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8549640" y="29809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Tele-MANAS — 14416 / 1800-89-14416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66760" y="34198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7A6E"/>
                </a:solidFill>
              </a:rPr>
              <a:t>•</a:t>
            </a:r>
            <a:endParaRPr lang="en-US" sz="1180" dirty="0"/>
          </a:p>
        </p:txBody>
      </p:sp>
      <p:sp>
        <p:nvSpPr>
          <p:cNvPr id="45" name="Text 43"/>
          <p:cNvSpPr/>
          <p:nvPr/>
        </p:nvSpPr>
        <p:spPr>
          <a:xfrm>
            <a:off x="8549640" y="3419856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Manodarpan and other student-support initiatives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66760" y="4617720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FF2C6"/>
          </a:solidFill>
          <a:ln w="12700">
            <a:solidFill>
              <a:srgbClr val="FFF2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0496" y="47274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12A"/>
                </a:solidFill>
              </a:rPr>
              <a:t>We do not replace counselors or helplines.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12A"/>
                </a:solidFill>
              </a:rPr>
              <a:t>We help surface who may need them.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8680" y="630258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71807B"/>
                </a:solidFill>
              </a:rPr>
              <a:t>Sources: Ministry of Health &amp; Family Welfare / DGHS on NMHP and Tele-MANAS; WHO India on the National Mental Health Survey and economic burden</a:t>
            </a:r>
            <a:r>
              <a:rPr lang="en-US" sz="650" i="1" dirty="0">
                <a:solidFill>
                  <a:srgbClr val="71807B"/>
                </a:solidFill>
              </a:rPr>
              <a:t>.</a:t>
            </a:r>
            <a:endParaRPr lang="en-US" sz="6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Unique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An explainable rule-based expert system that converts a short check-in into a risk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738835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1389888" cy="1115568"/>
          </a:xfrm>
          <a:prstGeom prst="roundRect">
            <a:avLst>
              <a:gd name="adj" fmla="val 6557"/>
            </a:avLst>
          </a:prstGeom>
          <a:solidFill>
            <a:srgbClr val="DDF2EC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488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12A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5054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Student check-in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76272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6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7168" y="1938528"/>
            <a:ext cx="1389888" cy="1115568"/>
          </a:xfrm>
          <a:prstGeom prst="roundRect">
            <a:avLst>
              <a:gd name="adj" fmla="val 6557"/>
            </a:avLst>
          </a:prstGeom>
          <a:solidFill>
            <a:srgbClr val="EAF1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1488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12A"/>
                </a:solidFill>
              </a:rPr>
              <a:t>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25054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Weighted signals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6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97096" y="1938528"/>
            <a:ext cx="1389888" cy="1115568"/>
          </a:xfrm>
          <a:prstGeom prst="roundRect">
            <a:avLst>
              <a:gd name="adj" fmla="val 6557"/>
            </a:avLst>
          </a:prstGeom>
          <a:solidFill>
            <a:srgbClr val="FFF2C6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21488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12A"/>
                </a:solidFill>
              </a:rPr>
              <a:t>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70248" y="25054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0–8 risk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96128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6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07024" y="1938528"/>
            <a:ext cx="1389888" cy="1115568"/>
          </a:xfrm>
          <a:prstGeom prst="roundRect">
            <a:avLst>
              <a:gd name="adj" fmla="val 6557"/>
            </a:avLst>
          </a:prstGeom>
          <a:solidFill>
            <a:srgbClr val="FCE9E9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21488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12A"/>
                </a:solidFill>
              </a:rPr>
              <a:t>FLAG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0176" y="25054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OK / Moderate / High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1" y="3300984"/>
            <a:ext cx="490164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Signals used by the current code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4672" y="3822192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8724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Mood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38724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80944" y="3822192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8724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Day</a:t>
            </a:r>
            <a:r>
              <a:rPr lang="en-US" sz="780" b="1" dirty="0">
                <a:solidFill>
                  <a:srgbClr val="2F4440"/>
                </a:solidFill>
              </a:rPr>
              <a:t> </a:t>
            </a:r>
            <a:r>
              <a:rPr lang="en-US" sz="1400" b="1" dirty="0">
                <a:solidFill>
                  <a:srgbClr val="2F4440"/>
                </a:solidFill>
              </a:rPr>
              <a:t>rating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53712" y="38724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57216" y="3822192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8724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CA 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9984" y="38724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" y="4480560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45308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Sleep &lt; 5h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377440" y="45308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80944" y="4480560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3054096" y="45308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Loneliness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45308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57216" y="4480560"/>
            <a:ext cx="1517904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4504353"/>
            <a:ext cx="149961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440"/>
                </a:solidFill>
              </a:rPr>
              <a:t>Negative emotion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29984" y="45308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7A6E"/>
                </a:solidFill>
              </a:rPr>
              <a:t>+0–1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5230368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F706B"/>
                </a:solidFill>
              </a:rPr>
              <a:t>Max current score: 8   •   Thresholds: 0–1 OK   |   2–3 Moderate   |   4–8 High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1325880"/>
            <a:ext cx="3529584" cy="4434840"/>
          </a:xfrm>
          <a:prstGeom prst="roundRect">
            <a:avLst>
              <a:gd name="adj" fmla="val 2073"/>
            </a:avLst>
          </a:prstGeom>
          <a:solidFill>
            <a:srgbClr val="EDF8F5"/>
          </a:solidFill>
          <a:ln w="12700">
            <a:solidFill>
              <a:srgbClr val="C7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1620195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Why rule-based AI?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94192" y="20848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F7A6E"/>
                </a:solidFill>
              </a:rPr>
              <a:t>•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8577072" y="2189467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Explainable: every point maps to an explicit rule.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94192" y="25237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F7A6E"/>
                </a:solidFill>
              </a:rPr>
              <a:t>•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8558784" y="2743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No training dataset required for the prototype.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94192" y="29626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F7A6E"/>
                </a:solidFill>
              </a:rPr>
              <a:t>•</a:t>
            </a:r>
            <a:endParaRPr lang="en-US" sz="1140" dirty="0"/>
          </a:p>
        </p:txBody>
      </p:sp>
      <p:sp>
        <p:nvSpPr>
          <p:cNvPr id="47" name="Text 45"/>
          <p:cNvSpPr/>
          <p:nvPr/>
        </p:nvSpPr>
        <p:spPr>
          <a:xfrm>
            <a:off x="8577072" y="3296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Auditable: counselors can inspect and revise thresholds</a:t>
            </a:r>
            <a:r>
              <a:rPr lang="en-US" sz="940" dirty="0">
                <a:solidFill>
                  <a:srgbClr val="17302B"/>
                </a:solidFill>
              </a:rPr>
              <a:t>.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8394192" y="340156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F7A6E"/>
                </a:solidFill>
              </a:rPr>
              <a:t>•</a:t>
            </a:r>
            <a:endParaRPr lang="en-US" sz="1140" dirty="0"/>
          </a:p>
        </p:txBody>
      </p:sp>
      <p:sp>
        <p:nvSpPr>
          <p:cNvPr id="49" name="Text 47"/>
          <p:cNvSpPr/>
          <p:nvPr/>
        </p:nvSpPr>
        <p:spPr>
          <a:xfrm>
            <a:off x="8534400" y="38221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Fast: works immediately on a normal computer.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94192" y="38404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F7A6E"/>
                </a:solidFill>
              </a:rPr>
              <a:t>•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8558784" y="44897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02B"/>
                </a:solidFill>
              </a:rPr>
              <a:t>Human-in-the-loop: flags concern; people decide what happens next.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442960" y="5157216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34400" y="5299469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B4B"/>
                </a:solidFill>
              </a:rPr>
              <a:t>Rule-based ≠ diagnosis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48518" y="6210969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71807B"/>
                </a:solidFill>
              </a:rPr>
              <a:t>Technical basis: current portal.py scoring logic. Risk thresholds and feature weights are prototype heuristics and should be validated by qualified mental-health professionals before deployment.</a:t>
            </a:r>
            <a:endParaRPr lang="en-US" sz="11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87973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A two-minute student flow feeds a simple decision engine and a local admin record</a:t>
            </a:r>
            <a:r>
              <a:rPr lang="en-US" sz="1100" dirty="0">
                <a:solidFill>
                  <a:srgbClr val="5F706B"/>
                </a:solidFill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09928"/>
            <a:ext cx="640080" cy="384048"/>
          </a:xfrm>
          <a:prstGeom prst="roundRect">
            <a:avLst>
              <a:gd name="adj" fmla="val 23810"/>
            </a:avLst>
          </a:prstGeom>
          <a:solidFill>
            <a:srgbClr val="DDF2EC"/>
          </a:solidFill>
          <a:ln w="12700">
            <a:solidFill>
              <a:srgbClr val="DD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013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12A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17904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Student Check-In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50392" y="233172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Mood 1–10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" y="2852928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93522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Day rating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" y="3374136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45643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Sleep + sleep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" y="3895344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97764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Loneliness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" y="4416552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49884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Last CA / exam 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" y="493776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02005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Emotion + optional reason (Hinglish)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55364" y="1444752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8536" y="1709928"/>
            <a:ext cx="640080" cy="384048"/>
          </a:xfrm>
          <a:prstGeom prst="roundRect">
            <a:avLst>
              <a:gd name="adj" fmla="val 238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18013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12A"/>
                </a:solidFill>
              </a:rPr>
              <a:t>02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47488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Instant Analysis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79976" y="233172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evaluate_student(data)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79976" y="2852928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293522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Add rule-based 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9976" y="3374136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345643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Collect reasons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79976" y="3895344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397764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Classify risk level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79976" y="4416552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449884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Save to students.json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0" y="1444752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1709928"/>
            <a:ext cx="640080" cy="384048"/>
          </a:xfrm>
          <a:prstGeom prst="roundRect">
            <a:avLst>
              <a:gd name="adj" fmla="val 23810"/>
            </a:avLst>
          </a:prstGeom>
          <a:solidFill>
            <a:srgbClr val="FFF2C6"/>
          </a:solidFill>
          <a:ln w="12700">
            <a:solidFill>
              <a:srgbClr val="FFF2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18013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12A"/>
                </a:solidFill>
              </a:rPr>
              <a:t>03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77072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Action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909560" y="233172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24140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HIGH → support message + alert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09560" y="2852928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293522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MODERATE → gentle advice + alert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09560" y="3374136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28432" y="345643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OK → positive reinforcement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09560" y="3895344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6350">
            <a:solidFill>
              <a:srgbClr val="EDF2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397764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Admin can review records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" y="6126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06B"/>
                </a:solidFill>
              </a:rPr>
              <a:t>Admin view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72768" y="60807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61310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Summary counts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877056" y="60807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0208" y="61310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Concerning students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81344" y="60807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61310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All records (optional)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85632" y="608076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58784" y="61310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Alert log + timestamps</a:t>
            </a:r>
            <a:endParaRPr lang="en-US" sz="12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&amp; Code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The current single-file Python prototype is intentionally simple, local and easy to demonstrate.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353312"/>
            <a:ext cx="6510528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portal.py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706B"/>
                </a:solidFill>
              </a:rPr>
              <a:t>Main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4597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collect_feedback()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08376" y="24597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Collects student check-in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98094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evaluate_student()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08376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Applies weighted rules + thresholds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3502152"/>
            <a:ext cx="20609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save_student_record()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08376" y="3502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Appends records to students.json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4023360"/>
            <a:ext cx="20609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send_alert_to_admin()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8376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Prints + appends admin_alerts.log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" y="4544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admin_interface()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2701" y="4544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Shows summaries + concerning records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50657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main_menu()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08376" y="5065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4440"/>
                </a:solidFill>
              </a:rPr>
              <a:t>Routes Student / Admin / Exit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" y="5468112"/>
            <a:ext cx="5715000" cy="256032"/>
          </a:xfrm>
          <a:prstGeom prst="roundRect">
            <a:avLst>
              <a:gd name="adj" fmla="val 17857"/>
            </a:avLst>
          </a:prstGeom>
          <a:solidFill>
            <a:srgbClr val="EDF8F5"/>
          </a:solidFill>
          <a:ln w="12700">
            <a:solidFill>
              <a:srgbClr val="ED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5522976"/>
            <a:ext cx="5440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6E"/>
                </a:solidFill>
              </a:rPr>
              <a:t>Local storage: students.json  •  alert log: admin_alerts.log  •  no 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353312"/>
            <a:ext cx="4370832" cy="2148840"/>
          </a:xfrm>
          <a:prstGeom prst="roundRect">
            <a:avLst>
              <a:gd name="adj" fmla="val 3404"/>
            </a:avLst>
          </a:prstGeom>
          <a:solidFill>
            <a:srgbClr val="EDF8F5"/>
          </a:solidFill>
          <a:ln w="12700">
            <a:solidFill>
              <a:srgbClr val="C7E2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What is already strong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64266" y="199691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726680" y="192779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Input validation loops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68330" y="237423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7726680" y="2318751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Explainable risk reasons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64266" y="27777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7726680" y="271558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Separate student/admin flows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64266" y="317519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7726680" y="31231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Persistent local records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43800" y="37673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32" name="Text 30"/>
          <p:cNvSpPr/>
          <p:nvPr/>
        </p:nvSpPr>
        <p:spPr>
          <a:xfrm>
            <a:off x="7726680" y="37673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302B"/>
                </a:solidFill>
              </a:rPr>
              <a:t>Alert timestamps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7269480" y="3712464"/>
            <a:ext cx="437083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37339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12A"/>
                </a:solidFill>
              </a:rPr>
              <a:t>Next engineering upgrades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64266" y="421221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36" name="Text 34"/>
          <p:cNvSpPr/>
          <p:nvPr/>
        </p:nvSpPr>
        <p:spPr>
          <a:xfrm>
            <a:off x="7708392" y="41478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Encrypt local data + role-based admin access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63177" y="452831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7720149" y="4471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True anonymous mode when institution permits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63177" y="48844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40" name="Text 38"/>
          <p:cNvSpPr/>
          <p:nvPr/>
        </p:nvSpPr>
        <p:spPr>
          <a:xfrm>
            <a:off x="7708392" y="4831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Counselor-configurable rules + audit trail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63177" y="522808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42" name="Text 40"/>
          <p:cNvSpPr/>
          <p:nvPr/>
        </p:nvSpPr>
        <p:spPr>
          <a:xfrm>
            <a:off x="7703820" y="5171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Dashboard UI / mobile client / ERP integration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62088" y="563111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b="1" dirty="0">
                <a:solidFill>
                  <a:srgbClr val="1F7A6E"/>
                </a:solidFill>
              </a:rPr>
              <a:t>•</a:t>
            </a:r>
            <a:endParaRPr lang="en-US" sz="1110" dirty="0"/>
          </a:p>
        </p:txBody>
      </p:sp>
      <p:sp>
        <p:nvSpPr>
          <p:cNvPr id="44" name="Text 42"/>
          <p:cNvSpPr/>
          <p:nvPr/>
        </p:nvSpPr>
        <p:spPr>
          <a:xfrm>
            <a:off x="7708392" y="55768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2B"/>
                </a:solidFill>
              </a:rPr>
              <a:t>Clinical validation before real-world deployment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92691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&amp; Future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06B"/>
                </a:solidFill>
              </a:rPr>
              <a:t>Start with a simple detector; grow into a privacy-aware student wellbeing infrastructure</a:t>
            </a:r>
            <a:r>
              <a:rPr lang="en-US" sz="1050" dirty="0">
                <a:solidFill>
                  <a:srgbClr val="5F706B"/>
                </a:solidFill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257300"/>
            <a:ext cx="733348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2A"/>
                </a:solidFill>
              </a:rPr>
              <a:t>Roadmap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2889504"/>
            <a:ext cx="6263640" cy="0"/>
          </a:xfrm>
          <a:prstGeom prst="line">
            <a:avLst/>
          </a:prstGeom>
          <a:noFill/>
          <a:ln w="27940">
            <a:solidFill>
              <a:srgbClr val="9FC7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743200"/>
            <a:ext cx="292608" cy="292608"/>
          </a:xfrm>
          <a:prstGeom prst="ellipse">
            <a:avLst/>
          </a:prstGeom>
          <a:solidFill>
            <a:srgbClr val="1F7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793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740664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32552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LPU + nearby schools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95144" y="2743200"/>
            <a:ext cx="292608" cy="292608"/>
          </a:xfrm>
          <a:prstGeom prst="ellipse">
            <a:avLst/>
          </a:prstGeom>
          <a:solidFill>
            <a:srgbClr val="1F7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5144" y="2793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103120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Predict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83664" y="32552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Validated ML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743200"/>
            <a:ext cx="292608" cy="292608"/>
          </a:xfrm>
          <a:prstGeom prst="ellipse">
            <a:avLst/>
          </a:prstGeom>
          <a:solidFill>
            <a:srgbClr val="2F9E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793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3465576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Localize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32552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Punjabi + Hindi + English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0056" y="2743200"/>
            <a:ext cx="292608" cy="292608"/>
          </a:xfrm>
          <a:prstGeom prst="ellipse">
            <a:avLst/>
          </a:prstGeom>
          <a:solidFill>
            <a:srgbClr val="2F9E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2793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4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828032" y="2221992"/>
            <a:ext cx="78569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Integrate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32552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ERP / government pathways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82512" y="2743200"/>
            <a:ext cx="292608" cy="292608"/>
          </a:xfrm>
          <a:prstGeom prst="ellipse">
            <a:avLst/>
          </a:prstGeom>
          <a:solidFill>
            <a:srgbClr val="2F9E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93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5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190488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A"/>
                </a:solidFill>
              </a:rPr>
              <a:t>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71032" y="32552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06B"/>
                </a:solidFill>
              </a:rPr>
              <a:t>10,000+ institutions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706B"/>
                </a:solidFill>
              </a:rPr>
              <a:t>Scalability principles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" y="4584269"/>
            <a:ext cx="3195828" cy="257478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62229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Works on a normal computer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67556" y="4575848"/>
            <a:ext cx="3182112" cy="274320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4158996" y="4522563"/>
            <a:ext cx="2999232" cy="3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Single-file demo → web/mobile architecture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" y="5111496"/>
            <a:ext cx="3200400" cy="274319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758952" y="516636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Offline-first prototype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87368" y="5102352"/>
            <a:ext cx="3182112" cy="266747"/>
          </a:xfrm>
          <a:prstGeom prst="roundRect">
            <a:avLst>
              <a:gd name="adj" fmla="val 2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4160520" y="515264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4440"/>
                </a:solidFill>
              </a:rPr>
              <a:t>Can integrate with existing systems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01584" y="1353312"/>
            <a:ext cx="3538728" cy="4526280"/>
          </a:xfrm>
          <a:prstGeom prst="roundRect">
            <a:avLst>
              <a:gd name="adj" fmla="val 2067"/>
            </a:avLst>
          </a:prstGeom>
          <a:solidFill>
            <a:srgbClr val="EDF8F5"/>
          </a:solidFill>
          <a:ln w="12700">
            <a:solidFill>
              <a:srgbClr val="C7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75904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12A"/>
                </a:solidFill>
              </a:rPr>
              <a:t>Alignment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8385048" y="2176272"/>
            <a:ext cx="2852928" cy="603504"/>
          </a:xfrm>
          <a:prstGeom prst="roundRect">
            <a:avLst>
              <a:gd name="adj" fmla="val 12121"/>
            </a:avLst>
          </a:prstGeom>
          <a:solidFill>
            <a:srgbClr val="E7F5EC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</a:rPr>
              <a:t>SDG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17152" y="229514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4440"/>
                </a:solidFill>
              </a:rPr>
              <a:t>Good Health &amp; Well-Being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94192" y="3035808"/>
            <a:ext cx="2852928" cy="603504"/>
          </a:xfrm>
          <a:prstGeom prst="roundRect">
            <a:avLst>
              <a:gd name="adj" fmla="val 12121"/>
            </a:avLst>
          </a:prstGeom>
          <a:solidFill>
            <a:srgbClr val="EDF2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22208" y="31638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</a:rPr>
              <a:t>SDG 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17152" y="313639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4440"/>
                </a:solidFill>
              </a:rPr>
              <a:t>Quality Education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94192" y="3867912"/>
            <a:ext cx="2852928" cy="603504"/>
          </a:xfrm>
          <a:prstGeom prst="roundRect">
            <a:avLst>
              <a:gd name="adj" fmla="val 12121"/>
            </a:avLst>
          </a:prstGeom>
          <a:solidFill>
            <a:srgbClr val="FFF6DA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22208" y="4005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6E"/>
                </a:solidFill>
              </a:rPr>
              <a:t>SDG 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17152" y="397764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4440"/>
                </a:solidFill>
              </a:rPr>
              <a:t>Reduced Inequalities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94192" y="4937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06B"/>
                </a:solidFill>
              </a:rPr>
              <a:t>Key design principle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50352" y="5122164"/>
            <a:ext cx="3387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12A"/>
                </a:solidFill>
              </a:rPr>
              <a:t>Privacy + explainability + human oversight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D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12191695" cy="6858000"/>
          </a:xfrm>
          <a:prstGeom prst="rect">
            <a:avLst/>
          </a:prstGeom>
          <a:solidFill>
            <a:srgbClr val="12312A"/>
          </a:solidFill>
          <a:ln w="12700">
            <a:solidFill>
              <a:srgbClr val="1231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21792" y="256032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deserves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move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6953" y="22677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REAL</a:t>
            </a:r>
            <a:r>
              <a:rPr lang="en-US" sz="850" b="1" dirty="0">
                <a:solidFill>
                  <a:srgbClr val="E3B341"/>
                </a:solidFill>
              </a:rPr>
              <a:t> </a:t>
            </a:r>
            <a:r>
              <a:rPr lang="en-US" sz="1400" b="1" dirty="0">
                <a:solidFill>
                  <a:srgbClr val="E3B341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22576" y="22585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Targets a genuine student wellbeing gap.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07608" y="21488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6193" y="23500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EXPLAINABLE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71816" y="22585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Every risk point has a visible rule.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953" y="318303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ACCESSIBLE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22576" y="31729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Simple interface; low infrastructure overhead.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07608" y="30632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193" y="3169727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SCALABLE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71816" y="31729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Clear path from prototype to institutional platform.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81812" y="4087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RESPONSIBLE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22576" y="40873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Flags concern — it does not claim to diagnose</a:t>
            </a:r>
            <a:r>
              <a:rPr lang="en-US" sz="950" dirty="0">
                <a:solidFill>
                  <a:srgbClr val="FFFFFF"/>
                </a:solidFill>
              </a:rPr>
              <a:t>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07608" y="397764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1A443C"/>
          </a:solidFill>
          <a:ln w="12700">
            <a:solidFill>
              <a:srgbClr val="2D6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044" y="4081581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</a:rPr>
              <a:t>STUDENT-BUILT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71816" y="40873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Designed around the realities of student life.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30568" y="5797296"/>
            <a:ext cx="3977640" cy="786384"/>
          </a:xfrm>
          <a:prstGeom prst="roundRect">
            <a:avLst>
              <a:gd name="adj" fmla="val 10465"/>
            </a:avLst>
          </a:prstGeom>
          <a:solidFill>
            <a:srgbClr val="1F7A6E"/>
          </a:solidFill>
          <a:ln w="12700">
            <a:solidFill>
              <a:srgbClr val="1F7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8876" y="6039901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Build the bridge before the gap becomes a crisis.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547" y="5691851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2EC"/>
                </a:solidFill>
              </a:rPr>
              <a:t>Thank</a:t>
            </a:r>
            <a:r>
              <a:rPr lang="en-US" sz="1300" b="1" dirty="0">
                <a:solidFill>
                  <a:srgbClr val="DDF2EC"/>
                </a:solidFill>
              </a:rPr>
              <a:t> </a:t>
            </a:r>
            <a:r>
              <a:rPr lang="en-US" sz="1600" b="1" dirty="0">
                <a:solidFill>
                  <a:srgbClr val="DDF2EC"/>
                </a:solidFill>
              </a:rPr>
              <a:t>you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" y="5992098"/>
            <a:ext cx="7223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6D2CB"/>
                </a:solidFill>
              </a:rPr>
              <a:t>Team MindGuardians  •  Lovely Professional University  •  B.Tech CSE – 1st Year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641908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i="1" dirty="0">
                <a:solidFill>
                  <a:srgbClr val="91B2AA"/>
                </a:solidFill>
              </a:rPr>
              <a:t>NOTE: Demo only. The portal is a screening/flagging prototype, not a medical diagnosis or substitute for professional care.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1073</Words>
  <Application>Microsoft Office PowerPoint</Application>
  <PresentationFormat>Widescreen</PresentationFormat>
  <Paragraphs>255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Lovely Professional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Check-In Portal</dc:title>
  <dc:subject>Mental Health Check-In Portal — Prayas Tech Hackathon Round 1</dc:subject>
  <dc:creator>MindGuardians</dc:creator>
  <cp:lastModifiedBy>Roohani .</cp:lastModifiedBy>
  <cp:revision>3</cp:revision>
  <dcterms:created xsi:type="dcterms:W3CDTF">2026-09-12T14:02:11Z</dcterms:created>
  <dcterms:modified xsi:type="dcterms:W3CDTF">2026-09-12T16:29:35Z</dcterms:modified>
</cp:coreProperties>
</file>